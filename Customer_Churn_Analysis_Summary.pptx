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9F9757-FC7E-4D19-ACFE-2681CE0399D8}" v="2" dt="2025-06-27T07:11:49.3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1" d="100"/>
          <a:sy n="61" d="100"/>
        </p:scale>
        <p:origin x="53" y="34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KO NAVEEN" userId="84be72e989f490b2" providerId="LiveId" clId="{379F9757-FC7E-4D19-ACFE-2681CE0399D8}"/>
    <pc:docChg chg="undo custSel modSld">
      <pc:chgData name="NAIKO NAVEEN" userId="84be72e989f490b2" providerId="LiveId" clId="{379F9757-FC7E-4D19-ACFE-2681CE0399D8}" dt="2025-06-27T07:24:05.016" v="71" actId="20577"/>
      <pc:docMkLst>
        <pc:docMk/>
      </pc:docMkLst>
      <pc:sldChg chg="modSp mod">
        <pc:chgData name="NAIKO NAVEEN" userId="84be72e989f490b2" providerId="LiveId" clId="{379F9757-FC7E-4D19-ACFE-2681CE0399D8}" dt="2025-06-27T07:24:05.016" v="71" actId="20577"/>
        <pc:sldMkLst>
          <pc:docMk/>
          <pc:sldMk cId="0" sldId="256"/>
        </pc:sldMkLst>
        <pc:spChg chg="mod">
          <ac:chgData name="NAIKO NAVEEN" userId="84be72e989f490b2" providerId="LiveId" clId="{379F9757-FC7E-4D19-ACFE-2681CE0399D8}" dt="2025-06-27T07:17:38.798" v="61" actId="20577"/>
          <ac:spMkLst>
            <pc:docMk/>
            <pc:sldMk cId="0" sldId="256"/>
            <ac:spMk id="2" creationId="{00000000-0000-0000-0000-000000000000}"/>
          </ac:spMkLst>
        </pc:spChg>
        <pc:spChg chg="mod">
          <ac:chgData name="NAIKO NAVEEN" userId="84be72e989f490b2" providerId="LiveId" clId="{379F9757-FC7E-4D19-ACFE-2681CE0399D8}" dt="2025-06-27T07:24:05.016" v="71" actId="20577"/>
          <ac:spMkLst>
            <pc:docMk/>
            <pc:sldMk cId="0" sldId="256"/>
            <ac:spMk id="3" creationId="{00000000-0000-0000-0000-000000000000}"/>
          </ac:spMkLst>
        </pc:spChg>
      </pc:sldChg>
      <pc:sldChg chg="modSp mod setBg">
        <pc:chgData name="NAIKO NAVEEN" userId="84be72e989f490b2" providerId="LiveId" clId="{379F9757-FC7E-4D19-ACFE-2681CE0399D8}" dt="2025-06-27T07:23:45.939" v="69" actId="1076"/>
        <pc:sldMkLst>
          <pc:docMk/>
          <pc:sldMk cId="0" sldId="257"/>
        </pc:sldMkLst>
        <pc:spChg chg="mod">
          <ac:chgData name="NAIKO NAVEEN" userId="84be72e989f490b2" providerId="LiveId" clId="{379F9757-FC7E-4D19-ACFE-2681CE0399D8}" dt="2025-06-27T07:11:05.197" v="12" actId="255"/>
          <ac:spMkLst>
            <pc:docMk/>
            <pc:sldMk cId="0" sldId="257"/>
            <ac:spMk id="2" creationId="{00000000-0000-0000-0000-000000000000}"/>
          </ac:spMkLst>
        </pc:spChg>
        <pc:spChg chg="mod">
          <ac:chgData name="NAIKO NAVEEN" userId="84be72e989f490b2" providerId="LiveId" clId="{379F9757-FC7E-4D19-ACFE-2681CE0399D8}" dt="2025-06-27T07:23:45.939" v="69" actId="1076"/>
          <ac:spMkLst>
            <pc:docMk/>
            <pc:sldMk cId="0" sldId="257"/>
            <ac:spMk id="3" creationId="{00000000-0000-0000-0000-000000000000}"/>
          </ac:spMkLst>
        </pc:spChg>
      </pc:sldChg>
      <pc:sldChg chg="modSp mod">
        <pc:chgData name="NAIKO NAVEEN" userId="84be72e989f490b2" providerId="LiveId" clId="{379F9757-FC7E-4D19-ACFE-2681CE0399D8}" dt="2025-06-27T07:22:11.635" v="62" actId="1076"/>
        <pc:sldMkLst>
          <pc:docMk/>
          <pc:sldMk cId="0" sldId="258"/>
        </pc:sldMkLst>
        <pc:spChg chg="mod">
          <ac:chgData name="NAIKO NAVEEN" userId="84be72e989f490b2" providerId="LiveId" clId="{379F9757-FC7E-4D19-ACFE-2681CE0399D8}" dt="2025-06-27T07:12:40.524" v="19" actId="255"/>
          <ac:spMkLst>
            <pc:docMk/>
            <pc:sldMk cId="0" sldId="258"/>
            <ac:spMk id="2" creationId="{00000000-0000-0000-0000-000000000000}"/>
          </ac:spMkLst>
        </pc:spChg>
        <pc:spChg chg="mod">
          <ac:chgData name="NAIKO NAVEEN" userId="84be72e989f490b2" providerId="LiveId" clId="{379F9757-FC7E-4D19-ACFE-2681CE0399D8}" dt="2025-06-27T07:22:11.635" v="62" actId="1076"/>
          <ac:spMkLst>
            <pc:docMk/>
            <pc:sldMk cId="0" sldId="258"/>
            <ac:spMk id="3" creationId="{00000000-0000-0000-0000-000000000000}"/>
          </ac:spMkLst>
        </pc:spChg>
      </pc:sldChg>
      <pc:sldChg chg="modSp mod">
        <pc:chgData name="NAIKO NAVEEN" userId="84be72e989f490b2" providerId="LiveId" clId="{379F9757-FC7E-4D19-ACFE-2681CE0399D8}" dt="2025-06-27T07:22:20.762" v="63" actId="1076"/>
        <pc:sldMkLst>
          <pc:docMk/>
          <pc:sldMk cId="0" sldId="259"/>
        </pc:sldMkLst>
        <pc:spChg chg="mod">
          <ac:chgData name="NAIKO NAVEEN" userId="84be72e989f490b2" providerId="LiveId" clId="{379F9757-FC7E-4D19-ACFE-2681CE0399D8}" dt="2025-06-27T07:13:32.612" v="22" actId="255"/>
          <ac:spMkLst>
            <pc:docMk/>
            <pc:sldMk cId="0" sldId="259"/>
            <ac:spMk id="2" creationId="{00000000-0000-0000-0000-000000000000}"/>
          </ac:spMkLst>
        </pc:spChg>
        <pc:spChg chg="mod">
          <ac:chgData name="NAIKO NAVEEN" userId="84be72e989f490b2" providerId="LiveId" clId="{379F9757-FC7E-4D19-ACFE-2681CE0399D8}" dt="2025-06-27T07:22:20.762" v="63" actId="1076"/>
          <ac:spMkLst>
            <pc:docMk/>
            <pc:sldMk cId="0" sldId="259"/>
            <ac:spMk id="3" creationId="{00000000-0000-0000-0000-000000000000}"/>
          </ac:spMkLst>
        </pc:spChg>
      </pc:sldChg>
      <pc:sldChg chg="modSp mod">
        <pc:chgData name="NAIKO NAVEEN" userId="84be72e989f490b2" providerId="LiveId" clId="{379F9757-FC7E-4D19-ACFE-2681CE0399D8}" dt="2025-06-27T07:22:28.127" v="64" actId="1076"/>
        <pc:sldMkLst>
          <pc:docMk/>
          <pc:sldMk cId="0" sldId="260"/>
        </pc:sldMkLst>
        <pc:spChg chg="mod">
          <ac:chgData name="NAIKO NAVEEN" userId="84be72e989f490b2" providerId="LiveId" clId="{379F9757-FC7E-4D19-ACFE-2681CE0399D8}" dt="2025-06-27T07:13:47.913" v="25" actId="255"/>
          <ac:spMkLst>
            <pc:docMk/>
            <pc:sldMk cId="0" sldId="260"/>
            <ac:spMk id="2" creationId="{00000000-0000-0000-0000-000000000000}"/>
          </ac:spMkLst>
        </pc:spChg>
        <pc:spChg chg="mod">
          <ac:chgData name="NAIKO NAVEEN" userId="84be72e989f490b2" providerId="LiveId" clId="{379F9757-FC7E-4D19-ACFE-2681CE0399D8}" dt="2025-06-27T07:22:28.127" v="64" actId="1076"/>
          <ac:spMkLst>
            <pc:docMk/>
            <pc:sldMk cId="0" sldId="260"/>
            <ac:spMk id="3" creationId="{00000000-0000-0000-0000-000000000000}"/>
          </ac:spMkLst>
        </pc:spChg>
      </pc:sldChg>
      <pc:sldChg chg="modSp mod">
        <pc:chgData name="NAIKO NAVEEN" userId="84be72e989f490b2" providerId="LiveId" clId="{379F9757-FC7E-4D19-ACFE-2681CE0399D8}" dt="2025-06-27T07:22:47.013" v="65" actId="1076"/>
        <pc:sldMkLst>
          <pc:docMk/>
          <pc:sldMk cId="0" sldId="261"/>
        </pc:sldMkLst>
        <pc:spChg chg="mod">
          <ac:chgData name="NAIKO NAVEEN" userId="84be72e989f490b2" providerId="LiveId" clId="{379F9757-FC7E-4D19-ACFE-2681CE0399D8}" dt="2025-06-27T07:14:06.004" v="29" actId="255"/>
          <ac:spMkLst>
            <pc:docMk/>
            <pc:sldMk cId="0" sldId="261"/>
            <ac:spMk id="2" creationId="{00000000-0000-0000-0000-000000000000}"/>
          </ac:spMkLst>
        </pc:spChg>
        <pc:spChg chg="mod">
          <ac:chgData name="NAIKO NAVEEN" userId="84be72e989f490b2" providerId="LiveId" clId="{379F9757-FC7E-4D19-ACFE-2681CE0399D8}" dt="2025-06-27T07:22:47.013" v="65" actId="1076"/>
          <ac:spMkLst>
            <pc:docMk/>
            <pc:sldMk cId="0" sldId="261"/>
            <ac:spMk id="3" creationId="{00000000-0000-0000-0000-000000000000}"/>
          </ac:spMkLst>
        </pc:spChg>
      </pc:sldChg>
      <pc:sldChg chg="modSp mod">
        <pc:chgData name="NAIKO NAVEEN" userId="84be72e989f490b2" providerId="LiveId" clId="{379F9757-FC7E-4D19-ACFE-2681CE0399D8}" dt="2025-06-27T07:15:26.561" v="36" actId="1076"/>
        <pc:sldMkLst>
          <pc:docMk/>
          <pc:sldMk cId="0" sldId="262"/>
        </pc:sldMkLst>
        <pc:spChg chg="mod">
          <ac:chgData name="NAIKO NAVEEN" userId="84be72e989f490b2" providerId="LiveId" clId="{379F9757-FC7E-4D19-ACFE-2681CE0399D8}" dt="2025-06-27T07:15:04.957" v="32" actId="255"/>
          <ac:spMkLst>
            <pc:docMk/>
            <pc:sldMk cId="0" sldId="262"/>
            <ac:spMk id="2" creationId="{00000000-0000-0000-0000-000000000000}"/>
          </ac:spMkLst>
        </pc:spChg>
        <pc:spChg chg="mod">
          <ac:chgData name="NAIKO NAVEEN" userId="84be72e989f490b2" providerId="LiveId" clId="{379F9757-FC7E-4D19-ACFE-2681CE0399D8}" dt="2025-06-27T07:15:26.561" v="36" actId="1076"/>
          <ac:spMkLst>
            <pc:docMk/>
            <pc:sldMk cId="0" sldId="262"/>
            <ac:spMk id="3" creationId="{00000000-0000-0000-0000-000000000000}"/>
          </ac:spMkLst>
        </pc:spChg>
      </pc:sldChg>
      <pc:sldChg chg="modSp mod">
        <pc:chgData name="NAIKO NAVEEN" userId="84be72e989f490b2" providerId="LiveId" clId="{379F9757-FC7E-4D19-ACFE-2681CE0399D8}" dt="2025-06-27T07:23:01.203" v="66" actId="1076"/>
        <pc:sldMkLst>
          <pc:docMk/>
          <pc:sldMk cId="0" sldId="263"/>
        </pc:sldMkLst>
        <pc:spChg chg="mod">
          <ac:chgData name="NAIKO NAVEEN" userId="84be72e989f490b2" providerId="LiveId" clId="{379F9757-FC7E-4D19-ACFE-2681CE0399D8}" dt="2025-06-27T07:15:34.145" v="37" actId="255"/>
          <ac:spMkLst>
            <pc:docMk/>
            <pc:sldMk cId="0" sldId="263"/>
            <ac:spMk id="2" creationId="{00000000-0000-0000-0000-000000000000}"/>
          </ac:spMkLst>
        </pc:spChg>
        <pc:spChg chg="mod">
          <ac:chgData name="NAIKO NAVEEN" userId="84be72e989f490b2" providerId="LiveId" clId="{379F9757-FC7E-4D19-ACFE-2681CE0399D8}" dt="2025-06-27T07:23:01.203" v="66" actId="1076"/>
          <ac:spMkLst>
            <pc:docMk/>
            <pc:sldMk cId="0" sldId="263"/>
            <ac:spMk id="3" creationId="{00000000-0000-0000-0000-000000000000}"/>
          </ac:spMkLst>
        </pc:spChg>
      </pc:sldChg>
      <pc:sldChg chg="modSp mod">
        <pc:chgData name="NAIKO NAVEEN" userId="84be72e989f490b2" providerId="LiveId" clId="{379F9757-FC7E-4D19-ACFE-2681CE0399D8}" dt="2025-06-27T07:23:10.801" v="67" actId="1076"/>
        <pc:sldMkLst>
          <pc:docMk/>
          <pc:sldMk cId="0" sldId="264"/>
        </pc:sldMkLst>
        <pc:spChg chg="mod">
          <ac:chgData name="NAIKO NAVEEN" userId="84be72e989f490b2" providerId="LiveId" clId="{379F9757-FC7E-4D19-ACFE-2681CE0399D8}" dt="2025-06-27T07:15:52.051" v="40" actId="255"/>
          <ac:spMkLst>
            <pc:docMk/>
            <pc:sldMk cId="0" sldId="264"/>
            <ac:spMk id="2" creationId="{00000000-0000-0000-0000-000000000000}"/>
          </ac:spMkLst>
        </pc:spChg>
        <pc:spChg chg="mod">
          <ac:chgData name="NAIKO NAVEEN" userId="84be72e989f490b2" providerId="LiveId" clId="{379F9757-FC7E-4D19-ACFE-2681CE0399D8}" dt="2025-06-27T07:23:10.801" v="67" actId="1076"/>
          <ac:spMkLst>
            <pc:docMk/>
            <pc:sldMk cId="0" sldId="264"/>
            <ac:spMk id="3" creationId="{00000000-0000-0000-0000-000000000000}"/>
          </ac:spMkLst>
        </pc:spChg>
      </pc:sldChg>
      <pc:sldChg chg="modSp mod">
        <pc:chgData name="NAIKO NAVEEN" userId="84be72e989f490b2" providerId="LiveId" clId="{379F9757-FC7E-4D19-ACFE-2681CE0399D8}" dt="2025-06-27T07:23:19.576" v="68" actId="1076"/>
        <pc:sldMkLst>
          <pc:docMk/>
          <pc:sldMk cId="0" sldId="265"/>
        </pc:sldMkLst>
        <pc:spChg chg="mod">
          <ac:chgData name="NAIKO NAVEEN" userId="84be72e989f490b2" providerId="LiveId" clId="{379F9757-FC7E-4D19-ACFE-2681CE0399D8}" dt="2025-06-27T07:16:21.307" v="45" actId="20577"/>
          <ac:spMkLst>
            <pc:docMk/>
            <pc:sldMk cId="0" sldId="265"/>
            <ac:spMk id="2" creationId="{00000000-0000-0000-0000-000000000000}"/>
          </ac:spMkLst>
        </pc:spChg>
        <pc:spChg chg="mod">
          <ac:chgData name="NAIKO NAVEEN" userId="84be72e989f490b2" providerId="LiveId" clId="{379F9757-FC7E-4D19-ACFE-2681CE0399D8}" dt="2025-06-27T07:23:19.576" v="68" actId="1076"/>
          <ac:spMkLst>
            <pc:docMk/>
            <pc:sldMk cId="0" sldId="265"/>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61555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BCAD085-E8A6-8845-BD4E-CB4CCA059FC4}" type="datetimeFigureOut">
              <a:rPr lang="en-US" smtClean="0"/>
              <a:t>6/27/2025</a:t>
            </a:fld>
            <a:endParaRPr lang="en-US"/>
          </a:p>
        </p:txBody>
      </p:sp>
      <p:sp>
        <p:nvSpPr>
          <p:cNvPr id="6" name="Holder 6"/>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101463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59461" y="781938"/>
            <a:ext cx="8025079" cy="461665"/>
          </a:xfrm>
        </p:spPr>
        <p:txBody>
          <a:bodyPr lIns="0" tIns="0" rIns="0" bIns="0"/>
          <a:lstStyle>
            <a:lvl1pPr>
              <a:defRPr sz="3000" b="0" i="0">
                <a:solidFill>
                  <a:srgbClr val="FFC000"/>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BCAD085-E8A6-8845-BD4E-CB4CCA059FC4}" type="datetimeFigureOut">
              <a:rPr lang="en-US" smtClean="0"/>
              <a:t>6/27/2025</a:t>
            </a:fld>
            <a:endParaRPr lang="en-US"/>
          </a:p>
        </p:txBody>
      </p:sp>
      <p:sp>
        <p:nvSpPr>
          <p:cNvPr id="6" name="Holder 6"/>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11765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59461" y="781938"/>
            <a:ext cx="8025079" cy="461665"/>
          </a:xfrm>
        </p:spPr>
        <p:txBody>
          <a:bodyPr lIns="0" tIns="0" rIns="0" bIns="0"/>
          <a:lstStyle>
            <a:lvl1pPr>
              <a:defRPr sz="3000" b="0" i="0">
                <a:solidFill>
                  <a:srgbClr val="FFC000"/>
                </a:solidFill>
                <a:latin typeface="Arial Black"/>
                <a:cs typeface="Arial Black"/>
              </a:defRPr>
            </a:lvl1pPr>
          </a:lstStyle>
          <a:p>
            <a:endParaRPr/>
          </a:p>
        </p:txBody>
      </p:sp>
      <p:sp>
        <p:nvSpPr>
          <p:cNvPr id="3" name="Holder 3"/>
          <p:cNvSpPr>
            <a:spLocks noGrp="1"/>
          </p:cNvSpPr>
          <p:nvPr>
            <p:ph sz="half" idx="2"/>
          </p:nvPr>
        </p:nvSpPr>
        <p:spPr>
          <a:xfrm>
            <a:off x="457200" y="1577340"/>
            <a:ext cx="39776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endParaRPr 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5BCAD085-E8A6-8845-BD4E-CB4CCA059FC4}" type="datetimeFigureOut">
              <a:rPr lang="en-US" smtClean="0"/>
              <a:t>6/27/2025</a:t>
            </a:fld>
            <a:endParaRPr lang="en-US"/>
          </a:p>
        </p:txBody>
      </p:sp>
      <p:sp>
        <p:nvSpPr>
          <p:cNvPr id="7" name="Holder 7"/>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404483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59461" y="781938"/>
            <a:ext cx="8025079" cy="461665"/>
          </a:xfrm>
        </p:spPr>
        <p:txBody>
          <a:bodyPr lIns="0" tIns="0" rIns="0" bIns="0"/>
          <a:lstStyle>
            <a:lvl1pPr>
              <a:defRPr sz="3000" b="0" i="0">
                <a:solidFill>
                  <a:srgbClr val="FFC000"/>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endParaRPr 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5BCAD085-E8A6-8845-BD4E-CB4CCA059FC4}" type="datetimeFigureOut">
              <a:rPr lang="en-US" smtClean="0"/>
              <a:t>6/27/2025</a:t>
            </a:fld>
            <a:endParaRPr lang="en-US"/>
          </a:p>
        </p:txBody>
      </p:sp>
      <p:sp>
        <p:nvSpPr>
          <p:cNvPr id="5" name="Holder 5"/>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8957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endParaRPr 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5BCAD085-E8A6-8845-BD4E-CB4CCA059FC4}" type="datetimeFigureOut">
              <a:rPr lang="en-US" smtClean="0"/>
              <a:t>6/27/2025</a:t>
            </a:fld>
            <a:endParaRPr lang="en-US"/>
          </a:p>
        </p:txBody>
      </p:sp>
      <p:sp>
        <p:nvSpPr>
          <p:cNvPr id="4" name="Holder 4"/>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112222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D0D0D"/>
          </a:solidFill>
        </p:spPr>
        <p:txBody>
          <a:bodyPr wrap="square" lIns="0" tIns="0" rIns="0" bIns="0" rtlCol="0"/>
          <a:lstStyle/>
          <a:p>
            <a:endParaRPr sz="1350"/>
          </a:p>
        </p:txBody>
      </p:sp>
      <p:sp>
        <p:nvSpPr>
          <p:cNvPr id="2" name="Holder 2"/>
          <p:cNvSpPr>
            <a:spLocks noGrp="1"/>
          </p:cNvSpPr>
          <p:nvPr>
            <p:ph type="title"/>
          </p:nvPr>
        </p:nvSpPr>
        <p:spPr>
          <a:xfrm>
            <a:off x="559461" y="781938"/>
            <a:ext cx="8025079" cy="635000"/>
          </a:xfrm>
          <a:prstGeom prst="rect">
            <a:avLst/>
          </a:prstGeom>
        </p:spPr>
        <p:txBody>
          <a:bodyPr wrap="square" lIns="0" tIns="0" rIns="0" bIns="0">
            <a:spAutoFit/>
          </a:bodyPr>
          <a:lstStyle>
            <a:lvl1pPr>
              <a:defRPr sz="4000" b="0" i="0">
                <a:solidFill>
                  <a:srgbClr val="FFC000"/>
                </a:solidFill>
                <a:latin typeface="Arial Black"/>
                <a:cs typeface="Arial Black"/>
              </a:defRPr>
            </a:lvl1pPr>
          </a:lstStyle>
          <a:p>
            <a:endParaRPr/>
          </a:p>
        </p:txBody>
      </p:sp>
      <p:sp>
        <p:nvSpPr>
          <p:cNvPr id="3" name="Holder 3"/>
          <p:cNvSpPr>
            <a:spLocks noGrp="1"/>
          </p:cNvSpPr>
          <p:nvPr>
            <p:ph type="body" idx="1"/>
          </p:nvPr>
        </p:nvSpPr>
        <p:spPr>
          <a:xfrm>
            <a:off x="559461" y="1472013"/>
            <a:ext cx="8025079"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204526" y="6464680"/>
            <a:ext cx="735806" cy="117020"/>
          </a:xfrm>
          <a:prstGeom prst="rect">
            <a:avLst/>
          </a:prstGeom>
        </p:spPr>
        <p:txBody>
          <a:bodyPr wrap="square" lIns="0" tIns="0" rIns="0" bIns="0">
            <a:spAutoFit/>
          </a:bodyPr>
          <a:lstStyle>
            <a:lvl1pPr>
              <a:defRPr sz="900" b="0" i="0">
                <a:solidFill>
                  <a:srgbClr val="888888"/>
                </a:solidFill>
                <a:latin typeface="Calibri"/>
                <a:cs typeface="Calibri"/>
              </a:defRPr>
            </a:lvl1pPr>
          </a:lstStyle>
          <a:p>
            <a:endParaRPr lang="en-US"/>
          </a:p>
        </p:txBody>
      </p:sp>
      <p:sp>
        <p:nvSpPr>
          <p:cNvPr id="5" name="Holder 5"/>
          <p:cNvSpPr>
            <a:spLocks noGrp="1"/>
          </p:cNvSpPr>
          <p:nvPr>
            <p:ph type="dt" sz="half" idx="6"/>
          </p:nvPr>
        </p:nvSpPr>
        <p:spPr>
          <a:xfrm>
            <a:off x="457200" y="6377940"/>
            <a:ext cx="2103120" cy="276999"/>
          </a:xfrm>
          <a:prstGeom prst="rect">
            <a:avLst/>
          </a:prstGeom>
        </p:spPr>
        <p:txBody>
          <a:bodyPr wrap="square" lIns="0" tIns="0" rIns="0" bIns="0">
            <a:spAutoFit/>
          </a:bodyPr>
          <a:lstStyle>
            <a:lvl1pPr algn="l">
              <a:defRPr>
                <a:solidFill>
                  <a:schemeClr val="tx1">
                    <a:tint val="75000"/>
                  </a:schemeClr>
                </a:solidFill>
              </a:defRPr>
            </a:lvl1pPr>
          </a:lstStyle>
          <a:p>
            <a:fld id="{5BCAD085-E8A6-8845-BD4E-CB4CCA059FC4}" type="datetimeFigureOut">
              <a:rPr lang="en-US" smtClean="0"/>
              <a:t>6/27/2025</a:t>
            </a:fld>
            <a:endParaRPr lang="en-US"/>
          </a:p>
        </p:txBody>
      </p:sp>
      <p:sp>
        <p:nvSpPr>
          <p:cNvPr id="6" name="Holder 6"/>
          <p:cNvSpPr>
            <a:spLocks noGrp="1"/>
          </p:cNvSpPr>
          <p:nvPr>
            <p:ph type="sldNum" sz="quarter" idx="7"/>
          </p:nvPr>
        </p:nvSpPr>
        <p:spPr>
          <a:xfrm>
            <a:off x="8301609" y="6464680"/>
            <a:ext cx="173831" cy="117020"/>
          </a:xfrm>
          <a:prstGeom prst="rect">
            <a:avLst/>
          </a:prstGeom>
        </p:spPr>
        <p:txBody>
          <a:bodyPr wrap="square" lIns="0" tIns="0" rIns="0" bIns="0">
            <a:spAutoFit/>
          </a:bodyPr>
          <a:lstStyle>
            <a:lvl1pPr>
              <a:defRPr sz="900" b="0" i="0">
                <a:solidFill>
                  <a:srgbClr val="888888"/>
                </a:solidFill>
                <a:latin typeface="Calibri"/>
                <a:cs typeface="Calibri"/>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272993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461" y="781938"/>
            <a:ext cx="8025079" cy="615553"/>
          </a:xfrm>
        </p:spPr>
        <p:txBody>
          <a:bodyPr/>
          <a:lstStyle/>
          <a:p>
            <a:r>
              <a:rPr sz="4000" dirty="0"/>
              <a:t>Customer Churn </a:t>
            </a:r>
            <a:r>
              <a:rPr lang="en-US" sz="4000" dirty="0"/>
              <a:t>Report</a:t>
            </a:r>
            <a:endParaRPr sz="4000" dirty="0"/>
          </a:p>
        </p:txBody>
      </p:sp>
      <p:sp>
        <p:nvSpPr>
          <p:cNvPr id="3" name="Content Placeholder 2"/>
          <p:cNvSpPr>
            <a:spLocks noGrp="1"/>
          </p:cNvSpPr>
          <p:nvPr>
            <p:ph type="body" idx="1"/>
          </p:nvPr>
        </p:nvSpPr>
        <p:spPr>
          <a:xfrm>
            <a:off x="559461" y="1672429"/>
            <a:ext cx="8025079" cy="3908762"/>
          </a:xfrm>
        </p:spPr>
        <p:txBody>
          <a:bodyPr/>
          <a:lstStyle/>
          <a:p>
            <a:pPr>
              <a:defRPr sz="1800"/>
            </a:pPr>
            <a:r>
              <a:rPr sz="3000" dirty="0">
                <a:solidFill>
                  <a:schemeClr val="bg1"/>
                </a:solidFill>
              </a:rPr>
              <a:t>Summary &amp; Recommendations</a:t>
            </a:r>
          </a:p>
          <a:p>
            <a:pPr>
              <a:defRPr sz="1800"/>
            </a:pPr>
            <a:r>
              <a:rPr sz="3000" dirty="0">
                <a:solidFill>
                  <a:schemeClr val="bg1"/>
                </a:solidFill>
              </a:rPr>
              <a:t>Objective: </a:t>
            </a:r>
            <a:r>
              <a:rPr lang="en-US" sz="3200" dirty="0">
                <a:solidFill>
                  <a:schemeClr val="bg1"/>
                </a:solidFill>
              </a:rPr>
              <a:t>The analysis explores customer churn patterns, focusing on various factors such as payment methods, contract types, tenure, and demographic attributes. The goal is to identify which factors are most strongly associated with higher churn rates to guide customer retention strategies. </a:t>
            </a:r>
            <a:endParaRPr sz="3000" dirty="0">
              <a:solidFill>
                <a:schemeClr val="bg1"/>
              </a:solidFill>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461" y="781938"/>
            <a:ext cx="8025079" cy="615553"/>
          </a:xfrm>
        </p:spPr>
        <p:txBody>
          <a:bodyPr/>
          <a:lstStyle/>
          <a:p>
            <a:r>
              <a:rPr lang="en-IN" sz="4000" dirty="0"/>
              <a:t>Objective</a:t>
            </a:r>
            <a:endParaRPr sz="4000" dirty="0"/>
          </a:p>
        </p:txBody>
      </p:sp>
      <p:sp>
        <p:nvSpPr>
          <p:cNvPr id="3" name="Content Placeholder 2"/>
          <p:cNvSpPr>
            <a:spLocks noGrp="1"/>
          </p:cNvSpPr>
          <p:nvPr>
            <p:ph type="body" idx="1"/>
          </p:nvPr>
        </p:nvSpPr>
        <p:spPr>
          <a:xfrm>
            <a:off x="559461" y="1622325"/>
            <a:ext cx="8025079" cy="3231654"/>
          </a:xfrm>
        </p:spPr>
        <p:txBody>
          <a:bodyPr/>
          <a:lstStyle/>
          <a:p>
            <a:pPr>
              <a:defRPr sz="1800"/>
            </a:pPr>
            <a:r>
              <a:rPr sz="3000" dirty="0">
                <a:solidFill>
                  <a:schemeClr val="bg1"/>
                </a:solidFill>
              </a:rPr>
              <a:t>Analyze churn patterns using:</a:t>
            </a:r>
          </a:p>
          <a:p>
            <a:pPr>
              <a:defRPr sz="1800"/>
            </a:pPr>
            <a:r>
              <a:rPr sz="3000" dirty="0">
                <a:solidFill>
                  <a:schemeClr val="bg1"/>
                </a:solidFill>
              </a:rPr>
              <a:t> - Contract type</a:t>
            </a:r>
          </a:p>
          <a:p>
            <a:pPr>
              <a:defRPr sz="1800"/>
            </a:pPr>
            <a:r>
              <a:rPr sz="3000" dirty="0">
                <a:solidFill>
                  <a:schemeClr val="bg1"/>
                </a:solidFill>
              </a:rPr>
              <a:t> - Payment methods</a:t>
            </a:r>
          </a:p>
          <a:p>
            <a:pPr>
              <a:defRPr sz="1800"/>
            </a:pPr>
            <a:r>
              <a:rPr sz="3000" dirty="0">
                <a:solidFill>
                  <a:schemeClr val="bg1"/>
                </a:solidFill>
              </a:rPr>
              <a:t> - Tenure</a:t>
            </a:r>
          </a:p>
          <a:p>
            <a:pPr>
              <a:defRPr sz="1800"/>
            </a:pPr>
            <a:r>
              <a:rPr sz="3000" dirty="0">
                <a:solidFill>
                  <a:schemeClr val="bg1"/>
                </a:solidFill>
              </a:rPr>
              <a:t> - Demographics</a:t>
            </a:r>
          </a:p>
          <a:p>
            <a:pPr>
              <a:defRPr sz="1800"/>
            </a:pPr>
            <a:r>
              <a:rPr sz="3000" dirty="0">
                <a:solidFill>
                  <a:schemeClr val="bg1"/>
                </a:solidFill>
              </a:rPr>
              <a:t>Goal: Identify key drivers of churn and recommend retention strategies.</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461" y="781938"/>
            <a:ext cx="8025079" cy="615553"/>
          </a:xfrm>
        </p:spPr>
        <p:txBody>
          <a:bodyPr/>
          <a:lstStyle/>
          <a:p>
            <a:r>
              <a:rPr sz="4000" dirty="0"/>
              <a:t>Churn by Contract Type</a:t>
            </a:r>
          </a:p>
        </p:txBody>
      </p:sp>
      <p:sp>
        <p:nvSpPr>
          <p:cNvPr id="3" name="Content Placeholder 2"/>
          <p:cNvSpPr>
            <a:spLocks noGrp="1"/>
          </p:cNvSpPr>
          <p:nvPr>
            <p:ph type="body" idx="1"/>
          </p:nvPr>
        </p:nvSpPr>
        <p:spPr>
          <a:xfrm>
            <a:off x="559460" y="1697482"/>
            <a:ext cx="8025079" cy="2308324"/>
          </a:xfrm>
        </p:spPr>
        <p:txBody>
          <a:bodyPr/>
          <a:lstStyle/>
          <a:p>
            <a:pPr>
              <a:defRPr sz="1800"/>
            </a:pPr>
            <a:r>
              <a:rPr sz="3000" dirty="0">
                <a:solidFill>
                  <a:schemeClr val="bg1"/>
                </a:solidFill>
              </a:rPr>
              <a:t>Month-to-Month: 42% churn rate</a:t>
            </a:r>
          </a:p>
          <a:p>
            <a:pPr>
              <a:defRPr sz="1800"/>
            </a:pPr>
            <a:r>
              <a:rPr sz="3000" dirty="0">
                <a:solidFill>
                  <a:schemeClr val="bg1"/>
                </a:solidFill>
              </a:rPr>
              <a:t>One-Year Contract: 11% churn rate</a:t>
            </a:r>
          </a:p>
          <a:p>
            <a:pPr>
              <a:defRPr sz="1800"/>
            </a:pPr>
            <a:r>
              <a:rPr sz="3000" dirty="0">
                <a:solidFill>
                  <a:schemeClr val="bg1"/>
                </a:solidFill>
              </a:rPr>
              <a:t>Two-Year Contract: 3% churn rate</a:t>
            </a:r>
          </a:p>
          <a:p>
            <a:pPr>
              <a:defRPr sz="1800"/>
            </a:pPr>
            <a:r>
              <a:rPr sz="3000" dirty="0">
                <a:solidFill>
                  <a:schemeClr val="bg1"/>
                </a:solidFill>
              </a:rPr>
              <a:t>Insight: Longer contracts = higher customer retention</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461" y="781938"/>
            <a:ext cx="8025079" cy="615553"/>
          </a:xfrm>
        </p:spPr>
        <p:txBody>
          <a:bodyPr/>
          <a:lstStyle/>
          <a:p>
            <a:r>
              <a:rPr sz="4000" dirty="0"/>
              <a:t>Churn by Payment Method</a:t>
            </a:r>
          </a:p>
        </p:txBody>
      </p:sp>
      <p:sp>
        <p:nvSpPr>
          <p:cNvPr id="3" name="Content Placeholder 2"/>
          <p:cNvSpPr>
            <a:spLocks noGrp="1"/>
          </p:cNvSpPr>
          <p:nvPr>
            <p:ph type="body" idx="1"/>
          </p:nvPr>
        </p:nvSpPr>
        <p:spPr>
          <a:xfrm>
            <a:off x="559461" y="1910424"/>
            <a:ext cx="8025079" cy="1384995"/>
          </a:xfrm>
        </p:spPr>
        <p:txBody>
          <a:bodyPr/>
          <a:lstStyle/>
          <a:p>
            <a:pPr>
              <a:defRPr sz="1800"/>
            </a:pPr>
            <a:r>
              <a:rPr sz="3000" dirty="0">
                <a:solidFill>
                  <a:schemeClr val="bg1"/>
                </a:solidFill>
              </a:rPr>
              <a:t>Electronic Checks: 45% churn</a:t>
            </a:r>
          </a:p>
          <a:p>
            <a:pPr>
              <a:defRPr sz="1800"/>
            </a:pPr>
            <a:r>
              <a:rPr sz="3000" dirty="0">
                <a:solidFill>
                  <a:schemeClr val="bg1"/>
                </a:solidFill>
              </a:rPr>
              <a:t>Other Methods: 15-18% churn</a:t>
            </a:r>
          </a:p>
          <a:p>
            <a:pPr>
              <a:defRPr sz="1800"/>
            </a:pPr>
            <a:r>
              <a:rPr sz="3000" dirty="0">
                <a:solidFill>
                  <a:schemeClr val="bg1"/>
                </a:solidFill>
              </a:rPr>
              <a:t>Insight: Promote more secure payment options</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461" y="781938"/>
            <a:ext cx="8025079" cy="615553"/>
          </a:xfrm>
        </p:spPr>
        <p:txBody>
          <a:bodyPr/>
          <a:lstStyle/>
          <a:p>
            <a:r>
              <a:rPr sz="4000" dirty="0"/>
              <a:t>Churn by Tenure</a:t>
            </a:r>
          </a:p>
        </p:txBody>
      </p:sp>
      <p:sp>
        <p:nvSpPr>
          <p:cNvPr id="3" name="Content Placeholder 2"/>
          <p:cNvSpPr>
            <a:spLocks noGrp="1"/>
          </p:cNvSpPr>
          <p:nvPr>
            <p:ph type="body" idx="1"/>
          </p:nvPr>
        </p:nvSpPr>
        <p:spPr>
          <a:xfrm>
            <a:off x="559460" y="1582341"/>
            <a:ext cx="8025079" cy="1846659"/>
          </a:xfrm>
        </p:spPr>
        <p:txBody>
          <a:bodyPr/>
          <a:lstStyle/>
          <a:p>
            <a:pPr>
              <a:defRPr sz="1800"/>
            </a:pPr>
            <a:r>
              <a:rPr sz="3000" dirty="0">
                <a:solidFill>
                  <a:schemeClr val="bg1"/>
                </a:solidFill>
              </a:rPr>
              <a:t>&lt; 1 Year: 50% churn</a:t>
            </a:r>
          </a:p>
          <a:p>
            <a:pPr>
              <a:defRPr sz="1800"/>
            </a:pPr>
            <a:r>
              <a:rPr sz="3000" dirty="0">
                <a:solidFill>
                  <a:schemeClr val="bg1"/>
                </a:solidFill>
              </a:rPr>
              <a:t>1–3 Years: 35% churn</a:t>
            </a:r>
          </a:p>
          <a:p>
            <a:pPr>
              <a:defRPr sz="1800"/>
            </a:pPr>
            <a:r>
              <a:rPr sz="3000" dirty="0">
                <a:solidFill>
                  <a:schemeClr val="bg1"/>
                </a:solidFill>
              </a:rPr>
              <a:t>&gt; 3 Years: 15% churn</a:t>
            </a:r>
          </a:p>
          <a:p>
            <a:pPr>
              <a:defRPr sz="1800"/>
            </a:pPr>
            <a:r>
              <a:rPr sz="3000" dirty="0">
                <a:solidFill>
                  <a:schemeClr val="bg1"/>
                </a:solidFill>
              </a:rPr>
              <a:t>Insight: Early engagement is crucial</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461" y="781938"/>
            <a:ext cx="8025079" cy="615553"/>
          </a:xfrm>
        </p:spPr>
        <p:txBody>
          <a:bodyPr/>
          <a:lstStyle/>
          <a:p>
            <a:r>
              <a:rPr sz="4000" dirty="0"/>
              <a:t>Churn by Internet Service</a:t>
            </a:r>
          </a:p>
        </p:txBody>
      </p:sp>
      <p:sp>
        <p:nvSpPr>
          <p:cNvPr id="3" name="Content Placeholder 2"/>
          <p:cNvSpPr>
            <a:spLocks noGrp="1"/>
          </p:cNvSpPr>
          <p:nvPr>
            <p:ph type="body" idx="1"/>
          </p:nvPr>
        </p:nvSpPr>
        <p:spPr>
          <a:xfrm>
            <a:off x="576198" y="1697482"/>
            <a:ext cx="8025079" cy="1846659"/>
          </a:xfrm>
        </p:spPr>
        <p:txBody>
          <a:bodyPr/>
          <a:lstStyle/>
          <a:p>
            <a:pPr>
              <a:defRPr sz="1800"/>
            </a:pPr>
            <a:r>
              <a:rPr sz="3000" dirty="0">
                <a:solidFill>
                  <a:schemeClr val="bg1"/>
                </a:solidFill>
              </a:rPr>
              <a:t>Fiber Optic: 30% churn</a:t>
            </a:r>
          </a:p>
          <a:p>
            <a:pPr>
              <a:defRPr sz="1800"/>
            </a:pPr>
            <a:r>
              <a:rPr sz="3000" dirty="0">
                <a:solidFill>
                  <a:schemeClr val="bg1"/>
                </a:solidFill>
              </a:rPr>
              <a:t>DSL: 20% churn</a:t>
            </a:r>
          </a:p>
          <a:p>
            <a:pPr>
              <a:defRPr sz="1800"/>
            </a:pPr>
            <a:r>
              <a:rPr sz="3000" dirty="0">
                <a:solidFill>
                  <a:schemeClr val="bg1"/>
                </a:solidFill>
              </a:rPr>
              <a:t>Insight: Investigate Fiber service satisfaction and competition</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461" y="781938"/>
            <a:ext cx="8025079" cy="1231106"/>
          </a:xfrm>
        </p:spPr>
        <p:txBody>
          <a:bodyPr/>
          <a:lstStyle/>
          <a:p>
            <a:r>
              <a:rPr sz="4000" dirty="0"/>
              <a:t>Churn Among Senior Citizens</a:t>
            </a:r>
          </a:p>
        </p:txBody>
      </p:sp>
      <p:sp>
        <p:nvSpPr>
          <p:cNvPr id="3" name="Content Placeholder 2"/>
          <p:cNvSpPr>
            <a:spLocks noGrp="1"/>
          </p:cNvSpPr>
          <p:nvPr>
            <p:ph type="body" idx="1"/>
          </p:nvPr>
        </p:nvSpPr>
        <p:spPr>
          <a:xfrm>
            <a:off x="559461" y="2548611"/>
            <a:ext cx="8025079" cy="1384995"/>
          </a:xfrm>
        </p:spPr>
        <p:txBody>
          <a:bodyPr/>
          <a:lstStyle/>
          <a:p>
            <a:pPr>
              <a:defRPr sz="1800"/>
            </a:pPr>
            <a:r>
              <a:rPr sz="3000" dirty="0">
                <a:solidFill>
                  <a:schemeClr val="bg1"/>
                </a:solidFill>
              </a:rPr>
              <a:t>Seniors (65+): 41% churn</a:t>
            </a:r>
          </a:p>
          <a:p>
            <a:pPr>
              <a:defRPr sz="1800"/>
            </a:pPr>
            <a:r>
              <a:rPr sz="3000" dirty="0">
                <a:solidFill>
                  <a:schemeClr val="bg1"/>
                </a:solidFill>
              </a:rPr>
              <a:t>Non-seniors: 26% churn</a:t>
            </a:r>
          </a:p>
          <a:p>
            <a:pPr>
              <a:defRPr sz="1800"/>
            </a:pPr>
            <a:r>
              <a:rPr sz="3000" dirty="0">
                <a:solidFill>
                  <a:schemeClr val="bg1"/>
                </a:solidFill>
              </a:rPr>
              <a:t>Insight: Create senior-focused retention strategies</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461" y="781938"/>
            <a:ext cx="8025079" cy="615553"/>
          </a:xfrm>
        </p:spPr>
        <p:txBody>
          <a:bodyPr/>
          <a:lstStyle/>
          <a:p>
            <a:r>
              <a:rPr sz="4000" dirty="0"/>
              <a:t>Key Visual Insights</a:t>
            </a:r>
          </a:p>
        </p:txBody>
      </p:sp>
      <p:sp>
        <p:nvSpPr>
          <p:cNvPr id="3" name="Content Placeholder 2"/>
          <p:cNvSpPr>
            <a:spLocks noGrp="1"/>
          </p:cNvSpPr>
          <p:nvPr>
            <p:ph type="body" idx="1"/>
          </p:nvPr>
        </p:nvSpPr>
        <p:spPr>
          <a:xfrm>
            <a:off x="559461" y="1785163"/>
            <a:ext cx="8025079" cy="2769989"/>
          </a:xfrm>
        </p:spPr>
        <p:txBody>
          <a:bodyPr/>
          <a:lstStyle/>
          <a:p>
            <a:pPr>
              <a:defRPr sz="1800"/>
            </a:pPr>
            <a:r>
              <a:rPr sz="3000" dirty="0">
                <a:solidFill>
                  <a:schemeClr val="bg1"/>
                </a:solidFill>
              </a:rPr>
              <a:t>Bar &amp; Line Charts:</a:t>
            </a:r>
          </a:p>
          <a:p>
            <a:pPr>
              <a:defRPr sz="1800"/>
            </a:pPr>
            <a:r>
              <a:rPr sz="3000" dirty="0">
                <a:solidFill>
                  <a:schemeClr val="bg1"/>
                </a:solidFill>
              </a:rPr>
              <a:t> - Electronic checks show triple the churn rate of credit cards</a:t>
            </a:r>
          </a:p>
          <a:p>
            <a:pPr>
              <a:defRPr sz="1800"/>
            </a:pPr>
            <a:r>
              <a:rPr sz="3000" dirty="0">
                <a:solidFill>
                  <a:schemeClr val="bg1"/>
                </a:solidFill>
              </a:rPr>
              <a:t> - Clear decline in churn with increasing tenure</a:t>
            </a:r>
          </a:p>
          <a:p>
            <a:pPr>
              <a:defRPr sz="1800"/>
            </a:pPr>
            <a:r>
              <a:rPr sz="3000" dirty="0">
                <a:solidFill>
                  <a:schemeClr val="bg1"/>
                </a:solidFill>
              </a:rPr>
              <a:t>Visuals support strong correlation between stability and retention</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461" y="781938"/>
            <a:ext cx="8025079" cy="615553"/>
          </a:xfrm>
        </p:spPr>
        <p:txBody>
          <a:bodyPr/>
          <a:lstStyle/>
          <a:p>
            <a:r>
              <a:rPr sz="4000" dirty="0"/>
              <a:t>Recommendations</a:t>
            </a:r>
          </a:p>
        </p:txBody>
      </p:sp>
      <p:sp>
        <p:nvSpPr>
          <p:cNvPr id="3" name="Content Placeholder 2"/>
          <p:cNvSpPr>
            <a:spLocks noGrp="1"/>
          </p:cNvSpPr>
          <p:nvPr>
            <p:ph type="body" idx="1"/>
          </p:nvPr>
        </p:nvSpPr>
        <p:spPr>
          <a:xfrm>
            <a:off x="559461" y="1785164"/>
            <a:ext cx="8025079" cy="1846659"/>
          </a:xfrm>
        </p:spPr>
        <p:txBody>
          <a:bodyPr/>
          <a:lstStyle/>
          <a:p>
            <a:pPr>
              <a:defRPr sz="1800"/>
            </a:pPr>
            <a:r>
              <a:rPr sz="3000" dirty="0">
                <a:solidFill>
                  <a:schemeClr val="bg1"/>
                </a:solidFill>
              </a:rPr>
              <a:t>Encourage Long-Term Contracts</a:t>
            </a:r>
          </a:p>
          <a:p>
            <a:pPr>
              <a:defRPr sz="1800"/>
            </a:pPr>
            <a:r>
              <a:rPr sz="3000" dirty="0">
                <a:solidFill>
                  <a:schemeClr val="bg1"/>
                </a:solidFill>
              </a:rPr>
              <a:t>Promote Stable Payment Methods</a:t>
            </a:r>
          </a:p>
          <a:p>
            <a:pPr>
              <a:defRPr sz="1800"/>
            </a:pPr>
            <a:r>
              <a:rPr sz="3000" dirty="0">
                <a:solidFill>
                  <a:schemeClr val="bg1"/>
                </a:solidFill>
              </a:rPr>
              <a:t>Engage Customers Early</a:t>
            </a:r>
          </a:p>
          <a:p>
            <a:pPr>
              <a:defRPr sz="1800"/>
            </a:pPr>
            <a:r>
              <a:rPr sz="3000" dirty="0">
                <a:solidFill>
                  <a:schemeClr val="bg1"/>
                </a:solidFill>
              </a:rPr>
              <a:t>Targeted Retention for Senior Citizens</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461" y="781938"/>
            <a:ext cx="8025079" cy="615553"/>
          </a:xfrm>
        </p:spPr>
        <p:txBody>
          <a:bodyPr/>
          <a:lstStyle/>
          <a:p>
            <a:r>
              <a:rPr lang="en-IN" sz="4000" dirty="0"/>
              <a:t>Conclusion</a:t>
            </a:r>
          </a:p>
        </p:txBody>
      </p:sp>
      <p:sp>
        <p:nvSpPr>
          <p:cNvPr id="3" name="Content Placeholder 2"/>
          <p:cNvSpPr>
            <a:spLocks noGrp="1"/>
          </p:cNvSpPr>
          <p:nvPr>
            <p:ph type="body" idx="1"/>
          </p:nvPr>
        </p:nvSpPr>
        <p:spPr>
          <a:xfrm>
            <a:off x="563672" y="1760112"/>
            <a:ext cx="8025079" cy="2769989"/>
          </a:xfrm>
        </p:spPr>
        <p:txBody>
          <a:bodyPr/>
          <a:lstStyle/>
          <a:p>
            <a:pPr>
              <a:defRPr sz="1800"/>
            </a:pPr>
            <a:r>
              <a:rPr sz="3000" dirty="0">
                <a:solidFill>
                  <a:schemeClr val="bg1"/>
                </a:solidFill>
              </a:rPr>
              <a:t>Churn is highest:</a:t>
            </a:r>
          </a:p>
          <a:p>
            <a:pPr>
              <a:defRPr sz="1800"/>
            </a:pPr>
            <a:r>
              <a:rPr sz="3000" dirty="0">
                <a:solidFill>
                  <a:schemeClr val="bg1"/>
                </a:solidFill>
              </a:rPr>
              <a:t> - Among new customers</a:t>
            </a:r>
          </a:p>
          <a:p>
            <a:pPr>
              <a:defRPr sz="1800"/>
            </a:pPr>
            <a:r>
              <a:rPr sz="3000" dirty="0">
                <a:solidFill>
                  <a:schemeClr val="bg1"/>
                </a:solidFill>
              </a:rPr>
              <a:t> - With month-to-month contracts</a:t>
            </a:r>
          </a:p>
          <a:p>
            <a:pPr>
              <a:defRPr sz="1800"/>
            </a:pPr>
            <a:r>
              <a:rPr sz="3000" dirty="0">
                <a:solidFill>
                  <a:schemeClr val="bg1"/>
                </a:solidFill>
              </a:rPr>
              <a:t> - Using electronic check payments</a:t>
            </a:r>
          </a:p>
          <a:p>
            <a:pPr>
              <a:defRPr sz="1800"/>
            </a:pPr>
            <a:r>
              <a:rPr sz="3000" dirty="0">
                <a:solidFill>
                  <a:schemeClr val="bg1"/>
                </a:solidFill>
              </a:rPr>
              <a:t>Strategic focus on these groups can significantly reduce churn</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31</TotalTime>
  <Words>298</Words>
  <Application>Microsoft Office PowerPoint</Application>
  <PresentationFormat>On-screen Show (4:3)</PresentationFormat>
  <Paragraphs>48</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 Black</vt:lpstr>
      <vt:lpstr>Calibri</vt:lpstr>
      <vt:lpstr>1_Office Theme</vt:lpstr>
      <vt:lpstr>Customer Churn Report</vt:lpstr>
      <vt:lpstr>Objective</vt:lpstr>
      <vt:lpstr>Churn by Contract Type</vt:lpstr>
      <vt:lpstr>Churn by Payment Method</vt:lpstr>
      <vt:lpstr>Churn by Tenure</vt:lpstr>
      <vt:lpstr>Churn by Internet Service</vt:lpstr>
      <vt:lpstr>Churn Among Senior Citizens</vt:lpstr>
      <vt:lpstr>Key Visual Insights</vt:lpstr>
      <vt:lpstr>Recommendations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Naveen Nayak</dc:creator>
  <cp:keywords/>
  <dc:description>generated using python-pptx</dc:description>
  <cp:lastModifiedBy>NAIKO NAVEEN</cp:lastModifiedBy>
  <cp:revision>2</cp:revision>
  <dcterms:created xsi:type="dcterms:W3CDTF">2013-01-27T09:14:16Z</dcterms:created>
  <dcterms:modified xsi:type="dcterms:W3CDTF">2025-06-27T07:24:12Z</dcterms:modified>
  <cp:category/>
</cp:coreProperties>
</file>